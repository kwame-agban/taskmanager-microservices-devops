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6" r:id="rId7"/>
    <p:sldId id="265" r:id="rId8"/>
    <p:sldId id="261" r:id="rId9"/>
    <p:sldId id="267" r:id="rId10"/>
    <p:sldId id="262" r:id="rId11"/>
    <p:sldId id="263"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0" d="100"/>
          <a:sy n="110" d="100"/>
        </p:scale>
        <p:origin x="-55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err="1"/>
              <a:t>Présentation</a:t>
            </a:r>
            <a:r>
              <a:rPr dirty="0"/>
              <a:t> DevOps</a:t>
            </a:r>
          </a:p>
          <a:p>
            <a:r>
              <a:rPr dirty="0" err="1" smtClean="0"/>
              <a:t>TaskManager</a:t>
            </a:r>
            <a:endParaRPr dirty="0"/>
          </a:p>
        </p:txBody>
      </p:sp>
      <p:sp>
        <p:nvSpPr>
          <p:cNvPr id="3" name="Subtitle 2"/>
          <p:cNvSpPr>
            <a:spLocks noGrp="1"/>
          </p:cNvSpPr>
          <p:nvPr>
            <p:ph type="subTitle" idx="1"/>
          </p:nvPr>
        </p:nvSpPr>
        <p:spPr/>
        <p:txBody>
          <a:bodyPr/>
          <a:lstStyle/>
          <a:p>
            <a:r>
              <a:rPr dirty="0"/>
              <a:t>Architecture • GitHub Actions • Docker • Kubernetes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err="1" smtClean="0"/>
              <a:t>Objectifs</a:t>
            </a:r>
            <a:r>
              <a:rPr lang="fr-FR" dirty="0" smtClean="0"/>
              <a:t> de </a:t>
            </a:r>
            <a:r>
              <a:rPr lang="fr-FR" dirty="0" err="1" smtClean="0"/>
              <a:t>devOps</a:t>
            </a:r>
            <a:endParaRPr dirty="0"/>
          </a:p>
        </p:txBody>
      </p:sp>
      <p:sp>
        <p:nvSpPr>
          <p:cNvPr id="3" name="Content Placeholder 2"/>
          <p:cNvSpPr>
            <a:spLocks noGrp="1"/>
          </p:cNvSpPr>
          <p:nvPr>
            <p:ph idx="1"/>
          </p:nvPr>
        </p:nvSpPr>
        <p:spPr/>
        <p:txBody>
          <a:bodyPr/>
          <a:lstStyle/>
          <a:p>
            <a:pPr>
              <a:defRPr sz="2200"/>
            </a:pPr>
            <a:r>
              <a:rPr dirty="0"/>
              <a:t>Industrialiser le </a:t>
            </a:r>
            <a:r>
              <a:rPr dirty="0" err="1"/>
              <a:t>développement</a:t>
            </a:r>
            <a:endParaRPr dirty="0"/>
          </a:p>
          <a:p>
            <a:pPr>
              <a:defRPr sz="2200"/>
            </a:pPr>
            <a:r>
              <a:rPr dirty="0" err="1"/>
              <a:t>Automatiser</a:t>
            </a:r>
            <a:r>
              <a:rPr dirty="0"/>
              <a:t> les builds et </a:t>
            </a:r>
            <a:r>
              <a:rPr dirty="0" err="1"/>
              <a:t>déploiements</a:t>
            </a:r>
            <a:endParaRPr dirty="0"/>
          </a:p>
          <a:p>
            <a:pPr>
              <a:defRPr sz="2200"/>
            </a:pPr>
            <a:r>
              <a:rPr dirty="0"/>
              <a:t>Assurer la </a:t>
            </a:r>
            <a:r>
              <a:rPr dirty="0" err="1"/>
              <a:t>reproductibilité</a:t>
            </a:r>
            <a:endParaRPr dirty="0"/>
          </a:p>
          <a:p>
            <a:pPr>
              <a:defRPr sz="2200"/>
            </a:pPr>
            <a:r>
              <a:rPr dirty="0" err="1"/>
              <a:t>Mettre</a:t>
            </a:r>
            <a:r>
              <a:rPr dirty="0"/>
              <a:t> </a:t>
            </a:r>
            <a:r>
              <a:rPr dirty="0" err="1"/>
              <a:t>en</a:t>
            </a:r>
            <a:r>
              <a:rPr dirty="0"/>
              <a:t> place </a:t>
            </a:r>
            <a:r>
              <a:rPr dirty="0" err="1"/>
              <a:t>une</a:t>
            </a:r>
            <a:r>
              <a:rPr dirty="0"/>
              <a:t> supervision </a:t>
            </a:r>
            <a:r>
              <a:rPr dirty="0" err="1"/>
              <a:t>fiable</a:t>
            </a:r>
            <a:endParaRP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Architecture DevOps</a:t>
            </a:r>
          </a:p>
        </p:txBody>
      </p:sp>
      <p:sp>
        <p:nvSpPr>
          <p:cNvPr id="3" name="Content Placeholder 2"/>
          <p:cNvSpPr>
            <a:spLocks noGrp="1"/>
          </p:cNvSpPr>
          <p:nvPr>
            <p:ph idx="1"/>
          </p:nvPr>
        </p:nvSpPr>
        <p:spPr/>
        <p:txBody>
          <a:bodyPr/>
          <a:lstStyle/>
          <a:p>
            <a:pPr>
              <a:defRPr sz="2200"/>
            </a:pPr>
            <a:r>
              <a:rPr dirty="0"/>
              <a:t>GitHub → GitHub Actions → Docker Compose → Kubernetes</a:t>
            </a:r>
          </a:p>
          <a:p>
            <a:pPr>
              <a:defRPr sz="2200"/>
            </a:pPr>
            <a:r>
              <a:rPr dirty="0"/>
              <a:t>API Gateway au </a:t>
            </a:r>
            <a:r>
              <a:rPr dirty="0" err="1"/>
              <a:t>centre</a:t>
            </a:r>
            <a:r>
              <a:rPr dirty="0"/>
              <a:t> des </a:t>
            </a:r>
            <a:r>
              <a:rPr dirty="0" err="1"/>
              <a:t>microservices</a:t>
            </a:r>
            <a:endParaRPr dirty="0"/>
          </a:p>
          <a:p>
            <a:pPr>
              <a:defRPr sz="2200"/>
            </a:pPr>
            <a:r>
              <a:rPr dirty="0"/>
              <a:t>Frontend Angular + services </a:t>
            </a:r>
            <a:r>
              <a:rPr lang="fr-FR" dirty="0" smtClean="0"/>
              <a:t>User, </a:t>
            </a:r>
            <a:r>
              <a:rPr dirty="0" err="1" smtClean="0"/>
              <a:t>Auth</a:t>
            </a:r>
            <a:r>
              <a:rPr dirty="0"/>
              <a:t>, Task et </a:t>
            </a:r>
            <a:r>
              <a:rPr lang="fr-FR" dirty="0" smtClean="0"/>
              <a:t>autres</a:t>
            </a:r>
            <a:endParaRPr dirty="0"/>
          </a:p>
        </p:txBody>
      </p:sp>
      <p:pic>
        <p:nvPicPr>
          <p:cNvPr id="4" name="Image 3"/>
          <p:cNvPicPr/>
          <p:nvPr/>
        </p:nvPicPr>
        <p:blipFill>
          <a:blip r:embed="rId2">
            <a:extLst>
              <a:ext uri="{28A0092B-C50C-407E-A947-70E740481C1C}">
                <a14:useLocalDpi xmlns:a14="http://schemas.microsoft.com/office/drawing/2010/main" val="0"/>
              </a:ext>
            </a:extLst>
          </a:blip>
          <a:srcRect/>
          <a:stretch>
            <a:fillRect/>
          </a:stretch>
        </p:blipFill>
        <p:spPr bwMode="auto">
          <a:xfrm>
            <a:off x="457200" y="2845500"/>
            <a:ext cx="6854190" cy="3003210"/>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GitHub &amp; GitHub Actions</a:t>
            </a:r>
          </a:p>
        </p:txBody>
      </p:sp>
      <p:sp>
        <p:nvSpPr>
          <p:cNvPr id="3" name="Content Placeholder 2"/>
          <p:cNvSpPr>
            <a:spLocks noGrp="1"/>
          </p:cNvSpPr>
          <p:nvPr>
            <p:ph idx="1"/>
          </p:nvPr>
        </p:nvSpPr>
        <p:spPr/>
        <p:txBody>
          <a:bodyPr/>
          <a:lstStyle/>
          <a:p>
            <a:pPr>
              <a:defRPr sz="2200"/>
            </a:pPr>
            <a:r>
              <a:rPr dirty="0"/>
              <a:t>GitHub : </a:t>
            </a:r>
            <a:r>
              <a:rPr dirty="0" err="1"/>
              <a:t>dépôt</a:t>
            </a:r>
            <a:r>
              <a:rPr dirty="0"/>
              <a:t> de code et </a:t>
            </a:r>
            <a:r>
              <a:rPr dirty="0" err="1"/>
              <a:t>gestion</a:t>
            </a:r>
            <a:r>
              <a:rPr dirty="0"/>
              <a:t> des versions</a:t>
            </a:r>
          </a:p>
          <a:p>
            <a:pPr>
              <a:defRPr sz="2200"/>
            </a:pPr>
            <a:r>
              <a:rPr dirty="0"/>
              <a:t>CI : compilation et tests</a:t>
            </a:r>
          </a:p>
          <a:p>
            <a:pPr>
              <a:defRPr sz="2200"/>
            </a:pPr>
            <a:r>
              <a:rPr dirty="0"/>
              <a:t>CD : build Docker et </a:t>
            </a:r>
            <a:r>
              <a:rPr dirty="0" err="1"/>
              <a:t>déploiement</a:t>
            </a:r>
            <a:r>
              <a:rPr dirty="0"/>
              <a:t> Kubernetes</a:t>
            </a:r>
          </a:p>
          <a:p>
            <a:pPr>
              <a:defRPr sz="2200"/>
            </a:pPr>
            <a:r>
              <a:rPr lang="fr-FR" dirty="0" err="1" smtClean="0"/>
              <a:t>Task</a:t>
            </a:r>
            <a:r>
              <a:rPr dirty="0" smtClean="0"/>
              <a:t>: </a:t>
            </a:r>
            <a:r>
              <a:rPr lang="fr-FR" dirty="0" smtClean="0"/>
              <a:t>gestion de tâches, CRUD</a:t>
            </a:r>
            <a:endParaRP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86411"/>
          </a:xfrm>
        </p:spPr>
        <p:txBody>
          <a:bodyPr/>
          <a:lstStyle/>
          <a:p>
            <a:r>
              <a:rPr dirty="0"/>
              <a:t>Docker et </a:t>
            </a:r>
            <a:r>
              <a:rPr dirty="0" smtClean="0"/>
              <a:t>Kubernetes</a:t>
            </a:r>
            <a:r>
              <a:rPr lang="fr-FR" dirty="0" smtClean="0"/>
              <a:t> (1)</a:t>
            </a:r>
            <a:endParaRPr dirty="0"/>
          </a:p>
        </p:txBody>
      </p:sp>
      <p:sp>
        <p:nvSpPr>
          <p:cNvPr id="3" name="Content Placeholder 2"/>
          <p:cNvSpPr>
            <a:spLocks noGrp="1"/>
          </p:cNvSpPr>
          <p:nvPr>
            <p:ph idx="1"/>
          </p:nvPr>
        </p:nvSpPr>
        <p:spPr>
          <a:xfrm>
            <a:off x="457200" y="1199072"/>
            <a:ext cx="8229600" cy="5193102"/>
          </a:xfrm>
        </p:spPr>
        <p:txBody>
          <a:bodyPr>
            <a:normAutofit/>
          </a:bodyPr>
          <a:lstStyle/>
          <a:p>
            <a:pPr>
              <a:defRPr sz="2200"/>
            </a:pPr>
            <a:r>
              <a:rPr dirty="0" err="1" smtClean="0"/>
              <a:t>Dockerfile</a:t>
            </a:r>
            <a:r>
              <a:rPr dirty="0" smtClean="0"/>
              <a:t> : </a:t>
            </a:r>
            <a:r>
              <a:rPr dirty="0" err="1" smtClean="0"/>
              <a:t>création</a:t>
            </a:r>
            <a:r>
              <a:rPr dirty="0" smtClean="0"/>
              <a:t> des images</a:t>
            </a:r>
            <a:endParaRPr lang="fr-FR" dirty="0" smtClean="0"/>
          </a:p>
          <a:p>
            <a:pPr>
              <a:defRPr sz="2200"/>
            </a:pPr>
            <a:r>
              <a:rPr lang="fr-FR" sz="1600" dirty="0"/>
              <a:t>décrit les étapes nécessaires pour construire l'image Docker d'un service. Il indique notamment l'image de base, copie le code source, installe les dépendances et définit la commande de démarrage de l'application. </a:t>
            </a:r>
          </a:p>
          <a:p>
            <a:pPr>
              <a:defRPr sz="2200"/>
            </a:pPr>
            <a:endParaRPr lang="fr-FR" dirty="0" smtClean="0"/>
          </a:p>
          <a:p>
            <a:pPr>
              <a:defRPr sz="2200"/>
            </a:pPr>
            <a:endParaRPr lang="fr-FR" dirty="0"/>
          </a:p>
          <a:p>
            <a:pPr>
              <a:defRPr sz="2200"/>
            </a:pPr>
            <a:endParaRPr lang="fr-FR" dirty="0" smtClean="0"/>
          </a:p>
          <a:p>
            <a:pPr>
              <a:defRPr sz="2200"/>
            </a:pPr>
            <a:endParaRPr lang="fr-FR" dirty="0"/>
          </a:p>
          <a:p>
            <a:pPr>
              <a:defRPr sz="2200"/>
            </a:pPr>
            <a:endParaRPr lang="fr-FR" dirty="0" smtClean="0"/>
          </a:p>
          <a:p>
            <a:pPr>
              <a:defRPr sz="2200"/>
            </a:pPr>
            <a:endParaRPr lang="fr-FR" dirty="0"/>
          </a:p>
          <a:p>
            <a:pPr>
              <a:defRPr sz="2200"/>
            </a:pPr>
            <a:endParaRPr lang="fr-FR" dirty="0" smtClean="0"/>
          </a:p>
          <a:p>
            <a:pPr>
              <a:defRPr sz="2200"/>
            </a:pPr>
            <a:endParaRPr lang="fr-FR" dirty="0"/>
          </a:p>
          <a:p>
            <a:pPr>
              <a:defRPr sz="2200"/>
            </a:pPr>
            <a:endParaRPr lang="fr-FR" dirty="0" smtClean="0"/>
          </a:p>
          <a:p>
            <a:pPr>
              <a:defRPr sz="2200"/>
            </a:pPr>
            <a:endParaRPr lang="fr-FR" dirty="0"/>
          </a:p>
          <a:p>
            <a:pPr>
              <a:defRPr sz="2200"/>
            </a:pPr>
            <a:endParaRPr lang="fr-FR" dirty="0" smtClean="0"/>
          </a:p>
          <a:p>
            <a:pPr>
              <a:defRPr sz="2200"/>
            </a:pPr>
            <a:endParaRPr lang="fr-FR" dirty="0"/>
          </a:p>
          <a:p>
            <a:pPr>
              <a:defRPr sz="2200"/>
            </a:pPr>
            <a:endParaRPr lang="fr-FR" dirty="0" smtClean="0"/>
          </a:p>
          <a:p>
            <a:pPr>
              <a:defRPr sz="2200"/>
            </a:pPr>
            <a:endParaRPr lang="fr-FR" dirty="0"/>
          </a:p>
          <a:p>
            <a:pPr>
              <a:defRPr sz="2200"/>
            </a:pPr>
            <a:endParaRPr lang="fr-FR" dirty="0" smtClean="0"/>
          </a:p>
          <a:p>
            <a:pPr>
              <a:defRPr sz="2200"/>
            </a:pPr>
            <a:endParaRPr lang="fr-FR" dirty="0"/>
          </a:p>
          <a:p>
            <a:pPr>
              <a:defRPr sz="2200"/>
            </a:pPr>
            <a:endParaRPr lang="fr-FR" dirty="0" smtClean="0"/>
          </a:p>
          <a:p>
            <a:pPr>
              <a:defRPr sz="2200"/>
            </a:pPr>
            <a:endParaRPr lang="fr-FR" dirty="0"/>
          </a:p>
          <a:p>
            <a:pPr>
              <a:defRPr sz="2200"/>
            </a:pPr>
            <a:endParaRPr lang="fr-FR" dirty="0" smtClean="0"/>
          </a:p>
          <a:p>
            <a:pPr>
              <a:defRPr sz="2200"/>
            </a:pPr>
            <a:endParaRPr dirty="0" smtClean="0"/>
          </a:p>
          <a:p>
            <a:pPr marL="0" indent="0">
              <a:buNone/>
              <a:defRPr sz="2200"/>
            </a:pPr>
            <a:endParaRPr lang="fr-FR" dirty="0" smtClean="0"/>
          </a:p>
          <a:p>
            <a:pPr marL="0" indent="0">
              <a:buNone/>
              <a:defRPr sz="2200"/>
            </a:pPr>
            <a:endParaRPr lang="fr-FR" dirty="0" smtClean="0"/>
          </a:p>
          <a:p>
            <a:pPr marL="0" indent="0">
              <a:buNone/>
              <a:defRPr sz="2200"/>
            </a:pPr>
            <a:endParaRPr lang="fr-FR" dirty="0" smtClean="0"/>
          </a:p>
          <a:p>
            <a:pPr marL="0" indent="0">
              <a:buNone/>
              <a:defRPr sz="2200"/>
            </a:pPr>
            <a:endParaRPr lang="fr-FR" dirty="0" smtClean="0"/>
          </a:p>
          <a:p>
            <a:pPr marL="0" indent="0">
              <a:buNone/>
              <a:defRPr sz="2200"/>
            </a:pPr>
            <a:endParaRPr lang="fr-FR" dirty="0" smtClean="0"/>
          </a:p>
          <a:p>
            <a:pPr marL="0" indent="0">
              <a:buNone/>
              <a:defRPr sz="2200"/>
            </a:pPr>
            <a:endParaRPr lang="fr-FR" dirty="0" smtClean="0"/>
          </a:p>
          <a:p>
            <a:pPr marL="0" indent="0">
              <a:buNone/>
              <a:defRPr sz="2200"/>
            </a:pPr>
            <a:endParaRPr lang="fr-FR" dirty="0" smtClean="0"/>
          </a:p>
          <a:p>
            <a:pPr marL="0" indent="0">
              <a:buNone/>
              <a:defRPr sz="2200"/>
            </a:pPr>
            <a:endParaRPr lang="fr-FR" dirty="0" smtClean="0"/>
          </a:p>
          <a:p>
            <a:pPr marL="0" indent="0">
              <a:buNone/>
              <a:defRPr sz="2200"/>
            </a:pPr>
            <a:endParaRPr lang="fr-FR" dirty="0" smtClean="0"/>
          </a:p>
          <a:p>
            <a:pPr marL="0" indent="0">
              <a:buNone/>
              <a:defRPr sz="2200"/>
            </a:pPr>
            <a:endParaRPr lang="fr-FR" dirty="0" smtClean="0"/>
          </a:p>
          <a:p>
            <a:pPr marL="0" indent="0">
              <a:buNone/>
              <a:defRPr sz="2200"/>
            </a:pPr>
            <a:endParaRPr lang="fr-FR" dirty="0" smtClean="0"/>
          </a:p>
          <a:p>
            <a:pPr marL="0" indent="0">
              <a:buNone/>
              <a:defRPr sz="2200"/>
            </a:pPr>
            <a:endParaRPr lang="fr-FR" dirty="0" smtClean="0"/>
          </a:p>
          <a:p>
            <a:pPr marL="0" indent="0">
              <a:buNone/>
              <a:defRPr sz="2200"/>
            </a:pPr>
            <a:endParaRPr dirty="0" smtClean="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493034"/>
            <a:ext cx="6564702" cy="3765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933060"/>
          </a:xfrm>
        </p:spPr>
        <p:txBody>
          <a:bodyPr/>
          <a:lstStyle/>
          <a:p>
            <a:r>
              <a:rPr lang="fr-FR" dirty="0"/>
              <a:t>Docker et </a:t>
            </a:r>
            <a:r>
              <a:rPr lang="fr-FR" dirty="0" err="1"/>
              <a:t>Kubernetes</a:t>
            </a:r>
            <a:r>
              <a:rPr lang="fr-FR" dirty="0"/>
              <a:t> </a:t>
            </a:r>
            <a:r>
              <a:rPr lang="fr-FR" dirty="0" smtClean="0"/>
              <a:t>(2)</a:t>
            </a:r>
            <a:endParaRPr lang="fr-FR" dirty="0"/>
          </a:p>
        </p:txBody>
      </p:sp>
      <p:sp>
        <p:nvSpPr>
          <p:cNvPr id="3" name="Espace réservé du contenu 2"/>
          <p:cNvSpPr>
            <a:spLocks noGrp="1"/>
          </p:cNvSpPr>
          <p:nvPr>
            <p:ph idx="1"/>
          </p:nvPr>
        </p:nvSpPr>
        <p:spPr>
          <a:xfrm>
            <a:off x="457200" y="1207698"/>
            <a:ext cx="8229600" cy="5408762"/>
          </a:xfrm>
        </p:spPr>
        <p:txBody>
          <a:bodyPr/>
          <a:lstStyle/>
          <a:p>
            <a:r>
              <a:rPr lang="fr-FR" sz="2200" dirty="0"/>
              <a:t>docker-</a:t>
            </a:r>
            <a:r>
              <a:rPr lang="fr-FR" sz="2200" dirty="0" err="1"/>
              <a:t>compose.yml</a:t>
            </a:r>
            <a:r>
              <a:rPr lang="fr-FR" sz="2200" dirty="0"/>
              <a:t> : exécution locale</a:t>
            </a:r>
          </a:p>
          <a:p>
            <a:r>
              <a:rPr lang="en-US" sz="1600" dirty="0" err="1"/>
              <a:t>permet</a:t>
            </a:r>
            <a:r>
              <a:rPr lang="en-US" sz="1600" dirty="0"/>
              <a:t> de lancer </a:t>
            </a:r>
            <a:r>
              <a:rPr lang="en-US" sz="1600" dirty="0" err="1"/>
              <a:t>simultanément</a:t>
            </a:r>
            <a:r>
              <a:rPr lang="en-US" sz="1600" dirty="0"/>
              <a:t> </a:t>
            </a:r>
            <a:r>
              <a:rPr lang="en-US" sz="1600" dirty="0" err="1"/>
              <a:t>tous</a:t>
            </a:r>
            <a:r>
              <a:rPr lang="en-US" sz="1600" dirty="0"/>
              <a:t> les </a:t>
            </a:r>
            <a:r>
              <a:rPr lang="en-US" sz="1600" dirty="0" err="1"/>
              <a:t>conteneurs</a:t>
            </a:r>
            <a:r>
              <a:rPr lang="en-US" sz="1600" dirty="0"/>
              <a:t> de </a:t>
            </a:r>
            <a:r>
              <a:rPr lang="en-US" sz="1600" dirty="0" err="1"/>
              <a:t>l'application</a:t>
            </a:r>
            <a:r>
              <a:rPr lang="en-US" sz="1600" dirty="0"/>
              <a:t> (API Gateway, </a:t>
            </a:r>
            <a:r>
              <a:rPr lang="en-US" sz="1600" dirty="0" err="1"/>
              <a:t>microservices</a:t>
            </a:r>
            <a:r>
              <a:rPr lang="en-US" sz="1600" dirty="0"/>
              <a:t>, bases de </a:t>
            </a:r>
            <a:r>
              <a:rPr lang="en-US" sz="1600" dirty="0" err="1"/>
              <a:t>données</a:t>
            </a:r>
            <a:r>
              <a:rPr lang="en-US" sz="1600" dirty="0"/>
              <a:t>, etc.) </a:t>
            </a:r>
            <a:r>
              <a:rPr lang="en-US" sz="1600" dirty="0" err="1"/>
              <a:t>en</a:t>
            </a:r>
            <a:r>
              <a:rPr lang="en-US" sz="1600" dirty="0"/>
              <a:t> </a:t>
            </a:r>
            <a:r>
              <a:rPr lang="en-US" sz="1600" dirty="0" err="1"/>
              <a:t>environnement</a:t>
            </a:r>
            <a:r>
              <a:rPr lang="en-US" sz="1600" dirty="0"/>
              <a:t> local. Il </a:t>
            </a:r>
            <a:r>
              <a:rPr lang="en-US" sz="1600" dirty="0" err="1"/>
              <a:t>définit</a:t>
            </a:r>
            <a:r>
              <a:rPr lang="en-US" sz="1600" dirty="0"/>
              <a:t> les images Docker, les ports, les volumes, les </a:t>
            </a:r>
            <a:r>
              <a:rPr lang="en-US" sz="1600" dirty="0" err="1"/>
              <a:t>réseaux</a:t>
            </a:r>
            <a:r>
              <a:rPr lang="en-US" sz="1600" dirty="0"/>
              <a:t> et les variables </a:t>
            </a:r>
            <a:r>
              <a:rPr lang="en-US" sz="1600" dirty="0" err="1"/>
              <a:t>d'environnement</a:t>
            </a:r>
            <a:r>
              <a:rPr lang="en-US" sz="1600" dirty="0"/>
              <a:t> de </a:t>
            </a:r>
            <a:r>
              <a:rPr lang="en-US" sz="1600" dirty="0" err="1"/>
              <a:t>chaque</a:t>
            </a:r>
            <a:r>
              <a:rPr lang="en-US" sz="1600" dirty="0"/>
              <a:t> service.</a:t>
            </a:r>
            <a:endParaRPr lang="fr-FR" sz="16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876293" y="2449902"/>
            <a:ext cx="6007586" cy="3994029"/>
          </a:xfrm>
          <a:prstGeom prst="rect">
            <a:avLst/>
          </a:prstGeom>
          <a:noFill/>
          <a:ln>
            <a:noFill/>
          </a:ln>
          <a:effectLst/>
          <a:extLst/>
        </p:spPr>
      </p:pic>
    </p:spTree>
    <p:extLst>
      <p:ext uri="{BB962C8B-B14F-4D97-AF65-F5344CB8AC3E}">
        <p14:creationId xmlns:p14="http://schemas.microsoft.com/office/powerpoint/2010/main" val="13251557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Docker et </a:t>
            </a:r>
            <a:r>
              <a:rPr lang="fr-FR" dirty="0" err="1"/>
              <a:t>Kubernetes</a:t>
            </a:r>
            <a:r>
              <a:rPr lang="fr-FR" dirty="0"/>
              <a:t> </a:t>
            </a:r>
            <a:r>
              <a:rPr lang="fr-FR" dirty="0" smtClean="0"/>
              <a:t>(3)</a:t>
            </a:r>
            <a:endParaRPr lang="fr-FR" dirty="0"/>
          </a:p>
        </p:txBody>
      </p:sp>
      <p:sp>
        <p:nvSpPr>
          <p:cNvPr id="3" name="Espace réservé du contenu 2"/>
          <p:cNvSpPr>
            <a:spLocks noGrp="1"/>
          </p:cNvSpPr>
          <p:nvPr>
            <p:ph idx="1"/>
          </p:nvPr>
        </p:nvSpPr>
        <p:spPr>
          <a:xfrm>
            <a:off x="457200" y="1319842"/>
            <a:ext cx="8229600" cy="4960188"/>
          </a:xfrm>
        </p:spPr>
        <p:txBody>
          <a:bodyPr/>
          <a:lstStyle/>
          <a:p>
            <a:r>
              <a:rPr lang="en-US" dirty="0"/>
              <a:t>Kubernetes : Deployment, Service, </a:t>
            </a:r>
            <a:r>
              <a:rPr lang="en-US" dirty="0" err="1"/>
              <a:t>ConfigMap</a:t>
            </a:r>
            <a:r>
              <a:rPr lang="en-US" dirty="0"/>
              <a:t>, Secret, Ingress</a:t>
            </a:r>
          </a:p>
          <a:p>
            <a:endParaRPr lang="fr-FR" dirty="0"/>
          </a:p>
        </p:txBody>
      </p:sp>
    </p:spTree>
    <p:extLst>
      <p:ext uri="{BB962C8B-B14F-4D97-AF65-F5344CB8AC3E}">
        <p14:creationId xmlns:p14="http://schemas.microsoft.com/office/powerpoint/2010/main" val="8821608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65641"/>
          </a:xfrm>
        </p:spPr>
        <p:txBody>
          <a:bodyPr>
            <a:normAutofit fontScale="90000"/>
          </a:bodyPr>
          <a:lstStyle/>
          <a:p>
            <a:r>
              <a:rPr dirty="0" err="1"/>
              <a:t>Fichiers</a:t>
            </a:r>
            <a:r>
              <a:rPr dirty="0"/>
              <a:t> </a:t>
            </a:r>
            <a:r>
              <a:rPr dirty="0" smtClean="0"/>
              <a:t>DevOps</a:t>
            </a:r>
            <a:r>
              <a:rPr lang="fr-FR" dirty="0" smtClean="0"/>
              <a:t> (1)</a:t>
            </a:r>
            <a:endParaRPr dirty="0"/>
          </a:p>
        </p:txBody>
      </p:sp>
      <p:sp>
        <p:nvSpPr>
          <p:cNvPr id="3" name="Content Placeholder 2"/>
          <p:cNvSpPr>
            <a:spLocks noGrp="1"/>
          </p:cNvSpPr>
          <p:nvPr>
            <p:ph idx="1"/>
          </p:nvPr>
        </p:nvSpPr>
        <p:spPr>
          <a:xfrm>
            <a:off x="457200" y="940280"/>
            <a:ext cx="8229600" cy="5581290"/>
          </a:xfrm>
        </p:spPr>
        <p:txBody>
          <a:bodyPr/>
          <a:lstStyle/>
          <a:p>
            <a:pPr>
              <a:defRPr sz="2200"/>
            </a:pPr>
            <a:r>
              <a:rPr dirty="0" err="1"/>
              <a:t>ci.yml</a:t>
            </a:r>
            <a:r>
              <a:rPr dirty="0"/>
              <a:t> / </a:t>
            </a:r>
            <a:r>
              <a:rPr dirty="0" err="1"/>
              <a:t>cd.yml</a:t>
            </a:r>
            <a:r>
              <a:rPr dirty="0"/>
              <a:t> / </a:t>
            </a:r>
            <a:endParaRPr lang="fr-FR" dirty="0" smtClean="0"/>
          </a:p>
          <a:p>
            <a:pPr>
              <a:defRPr sz="2200"/>
            </a:pPr>
            <a:r>
              <a:rPr lang="en-US" sz="1600" dirty="0" err="1"/>
              <a:t>définissent</a:t>
            </a:r>
            <a:r>
              <a:rPr lang="en-US" sz="1600" dirty="0"/>
              <a:t> les </a:t>
            </a:r>
            <a:r>
              <a:rPr lang="en-US" sz="1600" b="1" dirty="0"/>
              <a:t>workflows GitHub Actions</a:t>
            </a:r>
            <a:r>
              <a:rPr lang="en-US" sz="1600" dirty="0"/>
              <a:t>. </a:t>
            </a:r>
            <a:r>
              <a:rPr lang="en-US" sz="1600" b="1" dirty="0" err="1"/>
              <a:t>ci.yml</a:t>
            </a:r>
            <a:r>
              <a:rPr lang="en-US" sz="1600" dirty="0"/>
              <a:t> compile et teste </a:t>
            </a:r>
            <a:r>
              <a:rPr lang="en-US" sz="1600" dirty="0" err="1"/>
              <a:t>l'application</a:t>
            </a:r>
            <a:r>
              <a:rPr lang="en-US" sz="1600" dirty="0"/>
              <a:t>, </a:t>
            </a:r>
            <a:r>
              <a:rPr lang="en-US" sz="1600" b="1" dirty="0" err="1"/>
              <a:t>cd.yml</a:t>
            </a:r>
            <a:r>
              <a:rPr lang="en-US" sz="1600" dirty="0"/>
              <a:t> </a:t>
            </a:r>
            <a:r>
              <a:rPr lang="en-US" sz="1600" dirty="0" err="1"/>
              <a:t>construit</a:t>
            </a:r>
            <a:r>
              <a:rPr lang="en-US" sz="1600" dirty="0"/>
              <a:t> les images Docker </a:t>
            </a:r>
            <a:r>
              <a:rPr lang="en-US" sz="1600" dirty="0" err="1"/>
              <a:t>puis</a:t>
            </a:r>
            <a:r>
              <a:rPr lang="en-US" sz="1600" dirty="0"/>
              <a:t> </a:t>
            </a:r>
            <a:r>
              <a:rPr lang="en-US" sz="1600" dirty="0" err="1"/>
              <a:t>déploie</a:t>
            </a:r>
            <a:r>
              <a:rPr lang="en-US" sz="1600" dirty="0"/>
              <a:t> les </a:t>
            </a:r>
            <a:r>
              <a:rPr lang="en-US" sz="1600" dirty="0" err="1"/>
              <a:t>microservices</a:t>
            </a:r>
            <a:r>
              <a:rPr lang="en-US" sz="1600" dirty="0"/>
              <a:t> sur Kubernetes.</a:t>
            </a:r>
            <a:endParaRPr lang="fr-FR" sz="1600" dirty="0"/>
          </a:p>
          <a:p>
            <a:pPr>
              <a:defRPr sz="2200"/>
            </a:pPr>
            <a:endParaRPr lang="fr-FR" dirty="0" smtClean="0"/>
          </a:p>
          <a:p>
            <a:pPr>
              <a:defRPr sz="2200"/>
            </a:pPr>
            <a:endParaRPr lang="fr-FR" dirty="0"/>
          </a:p>
          <a:p>
            <a:pPr>
              <a:defRPr sz="2200"/>
            </a:pPr>
            <a:endParaRPr lang="fr-FR" dirty="0" smtClean="0"/>
          </a:p>
        </p:txBody>
      </p:sp>
      <p:pic>
        <p:nvPicPr>
          <p:cNvPr id="4" name="Image 3"/>
          <p:cNvPicPr/>
          <p:nvPr/>
        </p:nvPicPr>
        <p:blipFill>
          <a:blip r:embed="rId2"/>
          <a:stretch>
            <a:fillRect/>
          </a:stretch>
        </p:blipFill>
        <p:spPr>
          <a:xfrm>
            <a:off x="686512" y="2009955"/>
            <a:ext cx="5760720" cy="440809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786411"/>
          </a:xfrm>
        </p:spPr>
        <p:txBody>
          <a:bodyPr/>
          <a:lstStyle/>
          <a:p>
            <a:r>
              <a:rPr lang="fr-FR" dirty="0"/>
              <a:t>Fichiers </a:t>
            </a:r>
            <a:r>
              <a:rPr lang="fr-FR" dirty="0" err="1"/>
              <a:t>DevOps</a:t>
            </a:r>
            <a:r>
              <a:rPr lang="fr-FR" dirty="0"/>
              <a:t> </a:t>
            </a:r>
            <a:r>
              <a:rPr lang="fr-FR" dirty="0" smtClean="0"/>
              <a:t>(2)</a:t>
            </a:r>
            <a:endParaRPr lang="fr-FR" dirty="0"/>
          </a:p>
        </p:txBody>
      </p:sp>
      <p:sp>
        <p:nvSpPr>
          <p:cNvPr id="3" name="Espace réservé du contenu 2"/>
          <p:cNvSpPr>
            <a:spLocks noGrp="1"/>
          </p:cNvSpPr>
          <p:nvPr>
            <p:ph idx="1"/>
          </p:nvPr>
        </p:nvSpPr>
        <p:spPr>
          <a:xfrm>
            <a:off x="457200" y="1155940"/>
            <a:ext cx="8229600" cy="4970224"/>
          </a:xfrm>
        </p:spPr>
        <p:txBody>
          <a:bodyPr>
            <a:normAutofit/>
          </a:bodyPr>
          <a:lstStyle/>
          <a:p>
            <a:pPr>
              <a:defRPr sz="2200"/>
            </a:pPr>
            <a:r>
              <a:rPr lang="fr-FR" dirty="0"/>
              <a:t>devops_files.py et </a:t>
            </a:r>
            <a:r>
              <a:rPr lang="fr-FR" dirty="0" smtClean="0"/>
              <a:t>devops_ci.py</a:t>
            </a:r>
          </a:p>
          <a:p>
            <a:pPr marL="0" indent="0">
              <a:buNone/>
              <a:defRPr sz="2200"/>
            </a:pPr>
            <a:r>
              <a:rPr lang="fr-FR" sz="1600" dirty="0"/>
              <a:t>Le script </a:t>
            </a:r>
            <a:r>
              <a:rPr lang="fr-FR" sz="1600" b="1" dirty="0"/>
              <a:t>devops_files.py</a:t>
            </a:r>
            <a:r>
              <a:rPr lang="fr-FR" sz="1600" dirty="0"/>
              <a:t> prépare automatiquement les fichiers nécessaires au déploiement </a:t>
            </a:r>
            <a:r>
              <a:rPr lang="fr-FR" sz="1600" dirty="0" err="1"/>
              <a:t>DevOps</a:t>
            </a:r>
            <a:r>
              <a:rPr lang="fr-FR" sz="1600" dirty="0"/>
              <a:t>. Il génère, copie ou organise les ressources et les fichiers de configuration utilisés par Docker, </a:t>
            </a:r>
            <a:r>
              <a:rPr lang="fr-FR" sz="1600" dirty="0" err="1"/>
              <a:t>Kubernetes</a:t>
            </a:r>
            <a:r>
              <a:rPr lang="fr-FR" sz="1600" dirty="0"/>
              <a:t> et </a:t>
            </a:r>
            <a:r>
              <a:rPr lang="fr-FR" sz="1600" dirty="0" err="1"/>
              <a:t>GitHub</a:t>
            </a:r>
            <a:r>
              <a:rPr lang="fr-FR" sz="1600" dirty="0"/>
              <a:t> Actions. </a:t>
            </a:r>
          </a:p>
          <a:p>
            <a:pPr>
              <a:defRPr sz="2200"/>
            </a:pPr>
            <a:endParaRPr lang="fr-FR" sz="1600" dirty="0"/>
          </a:p>
          <a:p>
            <a:pPr marL="0" indent="0">
              <a:buNone/>
              <a:defRPr sz="2200"/>
            </a:pPr>
            <a:r>
              <a:rPr lang="fr-FR" sz="1600" dirty="0"/>
              <a:t>Le script </a:t>
            </a:r>
            <a:r>
              <a:rPr lang="fr-FR" sz="1600" b="1" dirty="0"/>
              <a:t>devops_ci.py</a:t>
            </a:r>
            <a:r>
              <a:rPr lang="fr-FR" sz="1600" dirty="0"/>
              <a:t> automatise certaines étapes de l'intégration continue, comme la préparation des </a:t>
            </a:r>
            <a:r>
              <a:rPr lang="fr-FR" sz="1600" dirty="0" err="1"/>
              <a:t>builds</a:t>
            </a:r>
            <a:r>
              <a:rPr lang="fr-FR" sz="1600" dirty="0"/>
              <a:t>, les vérifications ou l'exécution de tâches techniques avant le lancement du pipeline CI/CD. Il simplifie et standardise le processus de déploiement. </a:t>
            </a:r>
          </a:p>
          <a:p>
            <a:pPr>
              <a:defRPr sz="2200"/>
            </a:pPr>
            <a:endParaRPr lang="fr-FR" dirty="0"/>
          </a:p>
          <a:p>
            <a:pPr>
              <a:defRPr sz="2200"/>
            </a:pPr>
            <a:r>
              <a:rPr lang="fr-FR" dirty="0"/>
              <a:t>.</a:t>
            </a:r>
            <a:r>
              <a:rPr lang="fr-FR" dirty="0" err="1"/>
              <a:t>env</a:t>
            </a:r>
            <a:r>
              <a:rPr lang="fr-FR" dirty="0"/>
              <a:t> et application-*.</a:t>
            </a:r>
            <a:r>
              <a:rPr lang="fr-FR" dirty="0" err="1"/>
              <a:t>yml</a:t>
            </a:r>
            <a:endParaRPr lang="fr-FR" dirty="0"/>
          </a:p>
          <a:p>
            <a:pPr marL="0" indent="0">
              <a:buNone/>
            </a:pPr>
            <a:r>
              <a:rPr lang="fr-FR" sz="1700" dirty="0"/>
              <a:t>centralise les variables d'environnement de l'application, telles que les ports, les mots de passe, les URL des services ou les paramètres de base de données. Il permet de modifier la configuration sans changer le code source. </a:t>
            </a:r>
          </a:p>
          <a:p>
            <a:endParaRPr lang="fr-FR" dirty="0"/>
          </a:p>
        </p:txBody>
      </p:sp>
    </p:spTree>
    <p:extLst>
      <p:ext uri="{BB962C8B-B14F-4D97-AF65-F5344CB8AC3E}">
        <p14:creationId xmlns:p14="http://schemas.microsoft.com/office/powerpoint/2010/main" val="34723149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Chaîne CI/CD</a:t>
            </a:r>
          </a:p>
        </p:txBody>
      </p:sp>
      <p:sp>
        <p:nvSpPr>
          <p:cNvPr id="3" name="Content Placeholder 2"/>
          <p:cNvSpPr>
            <a:spLocks noGrp="1"/>
          </p:cNvSpPr>
          <p:nvPr>
            <p:ph idx="1"/>
          </p:nvPr>
        </p:nvSpPr>
        <p:spPr/>
        <p:txBody>
          <a:bodyPr/>
          <a:lstStyle/>
          <a:p>
            <a:pPr>
              <a:defRPr sz="2200"/>
            </a:pPr>
            <a:endParaRPr lang="fr-FR" dirty="0" smtClean="0"/>
          </a:p>
          <a:p>
            <a:pPr>
              <a:defRPr sz="2200"/>
            </a:pPr>
            <a:endParaRPr lang="fr-FR" dirty="0"/>
          </a:p>
          <a:p>
            <a:pPr>
              <a:defRPr sz="2200"/>
            </a:pPr>
            <a:endParaRPr dirty="0"/>
          </a:p>
          <a:p>
            <a:pPr>
              <a:defRPr sz="2200"/>
            </a:pPr>
            <a:r>
              <a:rPr dirty="0" err="1"/>
              <a:t>Déploiement</a:t>
            </a:r>
            <a:r>
              <a:rPr dirty="0"/>
              <a:t> </a:t>
            </a:r>
            <a:r>
              <a:rPr dirty="0" err="1"/>
              <a:t>automatisé</a:t>
            </a:r>
            <a:r>
              <a:rPr dirty="0"/>
              <a:t> après validation des tests</a:t>
            </a:r>
          </a:p>
        </p:txBody>
      </p:sp>
      <p:pic>
        <p:nvPicPr>
          <p:cNvPr id="4" name="Picture 2"/>
          <p:cNvPicPr/>
          <p:nvPr/>
        </p:nvPicPr>
        <p:blipFill>
          <a:blip r:embed="rId2"/>
          <a:stretch>
            <a:fillRect/>
          </a:stretch>
        </p:blipFill>
        <p:spPr>
          <a:xfrm>
            <a:off x="569343" y="1706622"/>
            <a:ext cx="6623050" cy="83439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defRPr sz="2200"/>
            </a:pPr>
            <a:r>
              <a:rPr dirty="0" err="1"/>
              <a:t>Chaîne</a:t>
            </a:r>
            <a:r>
              <a:rPr dirty="0"/>
              <a:t> DevOps </a:t>
            </a:r>
            <a:r>
              <a:rPr dirty="0" err="1" smtClean="0"/>
              <a:t>complète</a:t>
            </a:r>
            <a:r>
              <a:rPr lang="fr-FR" dirty="0" smtClean="0"/>
              <a:t> permet :</a:t>
            </a:r>
            <a:endParaRPr dirty="0"/>
          </a:p>
          <a:p>
            <a:pPr>
              <a:defRPr sz="2200"/>
            </a:pPr>
            <a:r>
              <a:rPr dirty="0" err="1"/>
              <a:t>Automatisation</a:t>
            </a:r>
            <a:r>
              <a:rPr dirty="0"/>
              <a:t>, </a:t>
            </a:r>
            <a:r>
              <a:rPr dirty="0" err="1"/>
              <a:t>conteneurisation</a:t>
            </a:r>
            <a:r>
              <a:rPr dirty="0"/>
              <a:t> et orchestration</a:t>
            </a:r>
          </a:p>
          <a:p>
            <a:pPr>
              <a:defRPr sz="2200"/>
            </a:pPr>
            <a:r>
              <a:rPr dirty="0" err="1"/>
              <a:t>Déploiement</a:t>
            </a:r>
            <a:r>
              <a:rPr dirty="0"/>
              <a:t> </a:t>
            </a:r>
            <a:r>
              <a:rPr dirty="0" err="1"/>
              <a:t>fiable</a:t>
            </a:r>
            <a:r>
              <a:rPr dirty="0"/>
              <a:t> et </a:t>
            </a:r>
            <a:r>
              <a:rPr dirty="0" err="1"/>
              <a:t>reproductible</a:t>
            </a:r>
            <a:endParaRPr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TotalTime>
  <Words>395</Words>
  <Application>Microsoft Office PowerPoint</Application>
  <PresentationFormat>Personnalisé</PresentationFormat>
  <Paragraphs>77</Paragraphs>
  <Slides>11</Slides>
  <Notes>0</Notes>
  <HiddenSlides>0</HiddenSlides>
  <MMClips>0</MMClips>
  <ScaleCrop>false</ScaleCrop>
  <HeadingPairs>
    <vt:vector size="4" baseType="variant">
      <vt:variant>
        <vt:lpstr>Thème</vt:lpstr>
      </vt:variant>
      <vt:variant>
        <vt:i4>1</vt:i4>
      </vt:variant>
      <vt:variant>
        <vt:lpstr>Titres des diapositives</vt:lpstr>
      </vt:variant>
      <vt:variant>
        <vt:i4>11</vt:i4>
      </vt:variant>
    </vt:vector>
  </HeadingPairs>
  <TitlesOfParts>
    <vt:vector size="12" baseType="lpstr">
      <vt:lpstr>Office Theme</vt:lpstr>
      <vt:lpstr>Présentation DevOps TaskManager</vt:lpstr>
      <vt:lpstr>Objectifs de devOps</vt:lpstr>
      <vt:lpstr>Architecture DevOps</vt:lpstr>
      <vt:lpstr>GitHub &amp; GitHub Actions</vt:lpstr>
      <vt:lpstr>Docker et Kubernetes (1)</vt:lpstr>
      <vt:lpstr>Docker et Kubernetes (2)</vt:lpstr>
      <vt:lpstr>Docker et Kubernetes (3)</vt:lpstr>
      <vt:lpstr>Fichiers DevOps (1)</vt:lpstr>
      <vt:lpstr>Fichiers DevOps (2)</vt:lpstr>
      <vt:lpstr>Chaîne CI/CD</vt:lpstr>
      <vt:lpstr>Conclusion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DevOps TaskManager</dc:title>
  <dc:subject/>
  <dc:creator/>
  <cp:keywords/>
  <dc:description>generated using python-pptx</dc:description>
  <cp:lastModifiedBy>Kwame</cp:lastModifiedBy>
  <cp:revision>6</cp:revision>
  <dcterms:created xsi:type="dcterms:W3CDTF">2013-01-27T09:14:16Z</dcterms:created>
  <dcterms:modified xsi:type="dcterms:W3CDTF">2026-07-14T15:31:07Z</dcterms:modified>
  <cp:category/>
</cp:coreProperties>
</file>